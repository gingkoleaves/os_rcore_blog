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9" name="标题 307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/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zh-CN" altLang="en-US" sz="4000" kern="1200" baseline="0">
                <a:latin typeface="+mj-lt"/>
                <a:ea typeface="+mj-ea"/>
                <a:cs typeface="+mj-cs"/>
              </a:rPr>
              <a:t>2026年春夏操作系统训练营总结</a:t>
            </a:r>
            <a:endParaRPr lang="zh-CN" altLang="en-US" sz="40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2050" name="副标题 307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/>
        </p:spPr>
        <p:txBody>
          <a:bodyPr anchor="t" anchorCtr="0"/>
          <a:p>
            <a:pPr defTabSz="914400">
              <a:buClrTx/>
              <a:buSzTx/>
              <a:buFontTx/>
            </a:pPr>
            <a:r>
              <a:rPr lang="en-US" altLang="zh-CN" sz="2000" kern="1200" baseline="0">
                <a:latin typeface="+mn-lt"/>
                <a:ea typeface="+mn-ea"/>
                <a:cs typeface="+mn-cs"/>
              </a:rPr>
              <a:t>2026</a:t>
            </a:r>
            <a:r>
              <a:rPr lang="zh-CN" altLang="en-US" sz="2000" kern="1200" baseline="0">
                <a:latin typeface="+mn-lt"/>
                <a:ea typeface="+mn-ea"/>
                <a:cs typeface="+mn-cs"/>
              </a:rPr>
              <a:t>年</a:t>
            </a:r>
            <a:r>
              <a:rPr lang="en-US" altLang="zh-CN" sz="2000" kern="1200" baseline="0">
                <a:latin typeface="+mn-lt"/>
                <a:ea typeface="+mn-ea"/>
                <a:cs typeface="+mn-cs"/>
              </a:rPr>
              <a:t>6</a:t>
            </a:r>
            <a:r>
              <a:rPr lang="zh-CN" altLang="en-US" sz="2000" kern="1200" baseline="0">
                <a:latin typeface="+mn-lt"/>
                <a:ea typeface="+mn-ea"/>
                <a:cs typeface="+mn-cs"/>
              </a:rPr>
              <a:t>月</a:t>
            </a:r>
            <a:r>
              <a:rPr lang="en-US" altLang="zh-CN" sz="2000" kern="1200" baseline="0">
                <a:latin typeface="+mn-lt"/>
                <a:ea typeface="+mn-ea"/>
                <a:cs typeface="+mn-cs"/>
              </a:rPr>
              <a:t>20</a:t>
            </a:r>
            <a:r>
              <a:rPr lang="zh-CN" altLang="en-US" sz="2000" kern="1200" baseline="0">
                <a:latin typeface="+mn-lt"/>
                <a:ea typeface="+mn-ea"/>
                <a:cs typeface="+mn-cs"/>
              </a:rPr>
              <a:t>日</a:t>
            </a:r>
            <a:endParaRPr lang="zh-CN" altLang="en-US" sz="2000" kern="1200" baseline="0">
              <a:latin typeface="+mn-lt"/>
              <a:ea typeface="+mn-ea"/>
              <a:cs typeface="+mn-cs"/>
            </a:endParaRPr>
          </a:p>
          <a:p>
            <a:pPr defTabSz="914400">
              <a:buClrTx/>
              <a:buSzTx/>
              <a:buFontTx/>
            </a:pPr>
            <a:r>
              <a:rPr lang="zh-CN" altLang="en-US" sz="2000" kern="1200" baseline="0">
                <a:latin typeface="+mn-lt"/>
                <a:ea typeface="+mn-ea"/>
                <a:cs typeface="+mn-cs"/>
              </a:rPr>
              <a:t>庄子硕</a:t>
            </a:r>
            <a:endParaRPr lang="zh-CN" altLang="en-US" sz="2000" kern="1200" baseline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理论学习</a:t>
            </a:r>
            <a:endParaRPr lang="zh-CN" altLang="en-US"/>
          </a:p>
          <a:p>
            <a:r>
              <a:rPr lang="zh-CN" altLang="en-US"/>
              <a:t>实践项目</a:t>
            </a:r>
            <a:endParaRPr lang="zh-CN" altLang="en-US"/>
          </a:p>
          <a:p>
            <a:r>
              <a:rPr lang="zh-CN" altLang="en-US"/>
              <a:t>自我反思</a:t>
            </a:r>
            <a:endParaRPr lang="zh-CN" altLang="en-US"/>
          </a:p>
          <a:p>
            <a:r>
              <a:rPr lang="zh-CN" altLang="en-US"/>
              <a:t>未来展望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理论学习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800"/>
              <a:t>Tokio Future: &lt;https://tokio-zh.github.io/document/going-deeper/futures.html&gt;</a:t>
            </a:r>
            <a:endParaRPr lang="en-US" altLang="zh-CN" sz="1800"/>
          </a:p>
          <a:p>
            <a:r>
              <a:rPr lang="zh-CN" altLang="en-US" sz="1800"/>
              <a:t>200行实现绿色线程:&lt;</a:t>
            </a:r>
            <a:r>
              <a:rPr lang="en-US" altLang="zh-CN" sz="1800"/>
              <a:t>https://zjp-cn.github.io/os-notes/green-thread.html&gt;</a:t>
            </a:r>
            <a:endParaRPr lang="en-US" altLang="zh-CN" sz="1800"/>
          </a:p>
          <a:p>
            <a:r>
              <a:rPr lang="zh-CN" altLang="en-US" sz="1800"/>
              <a:t>200行实现协程序：&lt;</a:t>
            </a:r>
            <a:r>
              <a:rPr lang="en-US" altLang="zh-CN" sz="1800"/>
              <a:t>https://nkbai.github.io/rust/Futures_Explained_in_200_lines_of_Rust.html&gt;</a:t>
            </a:r>
            <a:endParaRPr lang="en-US" altLang="zh-CN" sz="1800"/>
          </a:p>
          <a:p>
            <a:r>
              <a:rPr lang="en-US" altLang="zh-CN" sz="1800"/>
              <a:t>A stack-less Rust coroutine library under 100 LoC:&lt;https://blog.aloni.org/posts/a-stack-less-rust-coroutine-100-loc/&gt;</a:t>
            </a:r>
            <a:endParaRPr lang="en-US" altLang="zh-CN" sz="1800"/>
          </a:p>
          <a:p>
            <a:r>
              <a:rPr lang="en-US" altLang="zh-CN" sz="1800"/>
              <a:t>books-futures-explained:&lt;https://www.infoq.com/presentations/rust-2019/&gt;</a:t>
            </a:r>
            <a:endParaRPr lang="en-US" altLang="zh-CN" sz="1800"/>
          </a:p>
          <a:p>
            <a:r>
              <a:rPr lang="en-US" altLang="zh-CN" sz="1800"/>
              <a:t>Rust</a:t>
            </a:r>
            <a:r>
              <a:rPr lang="zh-CN" altLang="en-US" sz="1800"/>
              <a:t>圣经</a:t>
            </a:r>
            <a:endParaRPr lang="zh-CN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实践项目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1800"/>
              <a:t>任务一 — 爬虫性能对比</a:t>
            </a:r>
            <a:endParaRPr lang="zh-CN" altLang="en-US" sz="1800"/>
          </a:p>
          <a:p>
            <a:pPr marL="0" indent="457200">
              <a:buNone/>
            </a:pPr>
            <a:r>
              <a:rPr lang="zh-CN" altLang="en-US" sz="1800"/>
              <a:t>用 </a:t>
            </a:r>
            <a:r>
              <a:rPr lang="en-US" altLang="zh-CN" sz="1800"/>
              <a:t>fork/std::thread/tokio::spawn </a:t>
            </a:r>
            <a:r>
              <a:rPr lang="zh-CN" altLang="en-US" sz="1800"/>
              <a:t>实现三种并发爬虫</a:t>
            </a:r>
            <a:endParaRPr lang="zh-CN" altLang="en-US" sz="1800"/>
          </a:p>
          <a:p>
            <a:pPr marL="0" indent="457200">
              <a:buNone/>
            </a:pPr>
            <a:r>
              <a:rPr lang="zh-CN" altLang="en-US" sz="1800"/>
              <a:t>在 4/32/64 并发度下对比延时分布、吞吐率（</a:t>
            </a:r>
            <a:r>
              <a:rPr lang="en-US" altLang="zh-CN" sz="1800"/>
              <a:t>KB/s）、</a:t>
            </a:r>
            <a:r>
              <a:rPr lang="zh-CN" altLang="en-US" sz="1800"/>
              <a:t>内存开销（</a:t>
            </a:r>
            <a:r>
              <a:rPr lang="en-US" altLang="zh-CN" sz="1800"/>
              <a:t>Peak RSS）</a:t>
            </a:r>
            <a:endParaRPr lang="en-US" altLang="zh-CN" sz="1800"/>
          </a:p>
          <a:p>
            <a:pPr marL="0" indent="457200">
              <a:buNone/>
            </a:pPr>
            <a:r>
              <a:rPr lang="zh-CN" altLang="en-US" sz="1800"/>
              <a:t>结论：低并发下协程优势显著（耗时仅 </a:t>
            </a:r>
            <a:r>
              <a:rPr lang="en-US" altLang="zh-CN" sz="1800"/>
              <a:t>fork </a:t>
            </a:r>
            <a:r>
              <a:rPr lang="zh-CN" altLang="en-US" sz="1800"/>
              <a:t>的 37%），高并发下差异收窄</a:t>
            </a:r>
            <a:endParaRPr lang="zh-CN" altLang="en-US" sz="1800"/>
          </a:p>
          <a:p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任务二 — </a:t>
            </a:r>
            <a:r>
              <a:rPr lang="en-US" altLang="zh-CN" sz="1800"/>
              <a:t>CFQ </a:t>
            </a:r>
            <a:r>
              <a:rPr lang="zh-CN" altLang="en-US" sz="1800"/>
              <a:t>优先级调度器实现</a:t>
            </a:r>
            <a:endParaRPr lang="zh-CN" altLang="en-US" sz="1800"/>
          </a:p>
          <a:p>
            <a:pPr marL="0" indent="457200">
              <a:buNone/>
            </a:pPr>
            <a:r>
              <a:rPr lang="zh-CN" altLang="en-US" sz="1800"/>
              <a:t>在四种并发模型（</a:t>
            </a:r>
            <a:r>
              <a:rPr lang="en-US" altLang="zh-CN" sz="1800"/>
              <a:t>OS</a:t>
            </a:r>
            <a:r>
              <a:rPr lang="zh-CN" altLang="en-US" sz="1800"/>
              <a:t>线程/回调/有栈协程/无栈协程）中统一扩展优先级支持</a:t>
            </a:r>
            <a:endParaRPr lang="zh-CN" altLang="en-US" sz="1800"/>
          </a:p>
          <a:p>
            <a:pPr marL="0" indent="457200">
              <a:buNone/>
            </a:pPr>
            <a:r>
              <a:rPr lang="zh-CN" altLang="en-US" sz="1800"/>
              <a:t>核心：</a:t>
            </a:r>
            <a:r>
              <a:rPr lang="en-US" altLang="zh-CN" sz="1800"/>
              <a:t>CfqScheduler&lt;T&gt; </a:t>
            </a:r>
            <a:r>
              <a:rPr lang="zh-CN" altLang="en-US" sz="1800"/>
              <a:t>基于 </a:t>
            </a:r>
            <a:r>
              <a:rPr lang="en-US" altLang="zh-CN" sz="1800"/>
              <a:t>BinaryHeap + vruntime </a:t>
            </a:r>
            <a:r>
              <a:rPr lang="zh-CN" altLang="en-US" sz="1800"/>
              <a:t>排序，防新任务饿死</a:t>
            </a:r>
            <a:endParaRPr lang="zh-CN" altLang="en-US" sz="1800"/>
          </a:p>
          <a:p>
            <a:pPr marL="0" indent="457200">
              <a:buNone/>
            </a:pPr>
            <a:r>
              <a:rPr lang="zh-CN" altLang="en-US" sz="1800"/>
              <a:t>58 测试通过，满载 </a:t>
            </a:r>
            <a:r>
              <a:rPr lang="en-US" altLang="zh-CN" sz="1800"/>
              <a:t>CPU </a:t>
            </a:r>
            <a:r>
              <a:rPr lang="zh-CN" altLang="en-US" sz="1800"/>
              <a:t>场景下优先级开销仅 1.2%，验证公平性</a:t>
            </a:r>
            <a:endParaRPr lang="zh-CN" altLang="en-US" sz="1800"/>
          </a:p>
          <a:p>
            <a:endParaRPr lang="en-US" altLang="zh-CN" sz="1800"/>
          </a:p>
          <a:p>
            <a:endParaRPr lang="zh-CN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实践项目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1800">
                <a:sym typeface="+mn-ea"/>
              </a:rPr>
              <a:t>任务三 — </a:t>
            </a:r>
            <a:r>
              <a:rPr lang="en-US" altLang="zh-CN" sz="1800">
                <a:sym typeface="+mn-ea"/>
              </a:rPr>
              <a:t>Embassy </a:t>
            </a:r>
            <a:r>
              <a:rPr lang="zh-CN" altLang="en-US" sz="1800">
                <a:sym typeface="+mn-ea"/>
              </a:rPr>
              <a:t>内核扩展</a:t>
            </a:r>
            <a:endParaRPr lang="zh-CN" altLang="en-US" sz="1800"/>
          </a:p>
          <a:p>
            <a:pPr marL="0" indent="457200">
              <a:buNone/>
            </a:pPr>
            <a:r>
              <a:rPr lang="zh-CN" altLang="en-US" sz="1800">
                <a:sym typeface="+mn-ea"/>
              </a:rPr>
              <a:t>为 </a:t>
            </a:r>
            <a:r>
              <a:rPr lang="en-US" altLang="zh-CN" sz="1800">
                <a:sym typeface="+mn-ea"/>
              </a:rPr>
              <a:t>embassy-preempt </a:t>
            </a:r>
            <a:r>
              <a:rPr lang="zh-CN" altLang="en-US" sz="1800">
                <a:sym typeface="+mn-ea"/>
              </a:rPr>
              <a:t>增加同优先级 </a:t>
            </a:r>
            <a:r>
              <a:rPr lang="en-US" altLang="zh-CN" sz="1800">
                <a:sym typeface="+mn-ea"/>
              </a:rPr>
              <a:t>Round-Robin（</a:t>
            </a:r>
            <a:r>
              <a:rPr lang="zh-CN" altLang="en-US" sz="1800">
                <a:sym typeface="+mn-ea"/>
              </a:rPr>
              <a:t>基于 </a:t>
            </a:r>
            <a:r>
              <a:rPr lang="en-US" altLang="zh-CN" sz="1800">
                <a:sym typeface="+mn-ea"/>
              </a:rPr>
              <a:t>RISC-V 64GC </a:t>
            </a:r>
            <a:r>
              <a:rPr lang="zh-CN" altLang="en-US" sz="1800">
                <a:sym typeface="+mn-ea"/>
              </a:rPr>
              <a:t>在</a:t>
            </a:r>
            <a:r>
              <a:rPr lang="en-US" altLang="zh-CN" sz="1800">
                <a:sym typeface="+mn-ea"/>
              </a:rPr>
              <a:t>QEMU virt</a:t>
            </a:r>
            <a:r>
              <a:rPr lang="zh-CN" altLang="en-US" sz="1800">
                <a:sym typeface="+mn-ea"/>
              </a:rPr>
              <a:t>上验证通过）</a:t>
            </a:r>
            <a:endParaRPr lang="zh-CN" altLang="en-US" sz="1800"/>
          </a:p>
          <a:p>
            <a:pPr marL="0" indent="457200">
              <a:buNone/>
            </a:pPr>
            <a:r>
              <a:rPr lang="zh-CN" altLang="en-US" sz="1800">
                <a:sym typeface="+mn-ea"/>
              </a:rPr>
              <a:t>为 </a:t>
            </a:r>
            <a:r>
              <a:rPr lang="en-US" altLang="zh-CN" sz="1800">
                <a:sym typeface="+mn-ea"/>
              </a:rPr>
              <a:t>embassy-preempt </a:t>
            </a:r>
            <a:r>
              <a:rPr lang="zh-CN" altLang="en-US" sz="1800">
                <a:sym typeface="+mn-ea"/>
              </a:rPr>
              <a:t>实现 </a:t>
            </a:r>
            <a:r>
              <a:rPr lang="en-US" altLang="zh-CN" sz="1800">
                <a:sym typeface="+mn-ea"/>
              </a:rPr>
              <a:t>Mutex </a:t>
            </a:r>
            <a:r>
              <a:rPr lang="zh-CN" altLang="en-US" sz="1800">
                <a:sym typeface="+mn-ea"/>
              </a:rPr>
              <a:t>互斥锁原语</a:t>
            </a:r>
            <a:endParaRPr lang="zh-CN" altLang="en-US" sz="1800"/>
          </a:p>
          <a:p>
            <a:pPr marL="0" indent="0">
              <a:buNone/>
            </a:pPr>
            <a:endParaRPr lang="zh-CN" altLang="en-US" sz="1800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附加项目 — </a:t>
            </a:r>
            <a:r>
              <a:rPr lang="en-US" altLang="zh-CN" sz="1800">
                <a:sym typeface="+mn-ea"/>
              </a:rPr>
              <a:t>my_mini_redis</a:t>
            </a:r>
            <a:endParaRPr lang="en-US" altLang="zh-CN" sz="1800">
              <a:sym typeface="+mn-ea"/>
            </a:endParaRPr>
          </a:p>
          <a:p>
            <a:pPr marL="0" indent="457200">
              <a:buNone/>
            </a:pPr>
            <a:r>
              <a:rPr lang="zh-CN" altLang="en-US" sz="1800">
                <a:sym typeface="+mn-ea"/>
              </a:rPr>
              <a:t>实现 </a:t>
            </a:r>
            <a:r>
              <a:rPr lang="en-US" altLang="zh-CN" sz="1800">
                <a:sym typeface="+mn-ea"/>
              </a:rPr>
              <a:t>Redis </a:t>
            </a:r>
            <a:r>
              <a:rPr lang="zh-CN" altLang="en-US" sz="1800">
                <a:sym typeface="+mn-ea"/>
              </a:rPr>
              <a:t>兼容的内存数据库，支持 4 种数据类型、</a:t>
            </a:r>
            <a:r>
              <a:rPr lang="en-US" altLang="zh-CN" sz="1800">
                <a:sym typeface="+mn-ea"/>
              </a:rPr>
              <a:t>TTL </a:t>
            </a:r>
            <a:r>
              <a:rPr lang="zh-CN" altLang="en-US" sz="1800">
                <a:sym typeface="+mn-ea"/>
              </a:rPr>
              <a:t>过期、27+ 命令</a:t>
            </a:r>
            <a:endParaRPr lang="zh-CN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自我反思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前半段投入比较多，学习文档时间长</a:t>
            </a:r>
            <a:endParaRPr lang="zh-CN" altLang="en-US"/>
          </a:p>
          <a:p>
            <a:r>
              <a:rPr lang="zh-CN" altLang="en-US"/>
              <a:t>后半段投入减少，也没有尽早找到适合深入钻研的方向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未来展望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尝试了解</a:t>
            </a:r>
            <a:r>
              <a:rPr lang="en-US" altLang="zh-CN"/>
              <a:t>starry-os</a:t>
            </a:r>
            <a:r>
              <a:rPr lang="zh-CN" altLang="en-US"/>
              <a:t>的异步驱动实现情况并尝试支持更多设备</a:t>
            </a:r>
            <a:endParaRPr lang="zh-CN" altLang="en-US"/>
          </a:p>
          <a:p>
            <a:r>
              <a:rPr lang="zh-CN" altLang="en-US"/>
              <a:t>深入研究</a:t>
            </a:r>
            <a:r>
              <a:rPr lang="en-US" altLang="zh-CN"/>
              <a:t>embassy-preempt</a:t>
            </a:r>
            <a:r>
              <a:rPr lang="zh-CN" altLang="en-US"/>
              <a:t>的优先级支持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2026年春夏操作系统训练营总结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End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WPS 演示</Application>
  <PresentationFormat/>
  <Paragraphs>59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Noto Serif CJK SC</vt:lpstr>
      <vt:lpstr>OpenSymbol</vt:lpstr>
      <vt:lpstr>Microsoft YaHei</vt:lpstr>
      <vt:lpstr>文泉驿正黑</vt:lpstr>
      <vt:lpstr>Arial Unicode MS</vt:lpstr>
      <vt:lpstr>Calibri</vt:lpstr>
      <vt:lpstr>Trebuchet MS</vt:lpstr>
      <vt:lpstr>Arial Unicode MS</vt:lpstr>
      <vt:lpstr>SimSun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实践项目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wps</dc:creator>
  <cp:lastModifiedBy>gingkoleaves</cp:lastModifiedBy>
  <cp:revision>6</cp:revision>
  <dcterms:created xsi:type="dcterms:W3CDTF">2026-06-21T06:48:23Z</dcterms:created>
  <dcterms:modified xsi:type="dcterms:W3CDTF">2026-06-21T06:48:23Z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2052-12.1.2.25882</vt:lpwstr>
  </property>
  <property fmtid="{D5CDD505-2E9C-101B-9397-08002B2CF9AE}" pid="3" name="ICV">
    <vt:lpwstr>C82F95A21C3801A97F88376A5AF6F8F0_42</vt:lpwstr>
  </property>
</Properties>
</file>